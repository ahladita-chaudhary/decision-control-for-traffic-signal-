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lvetica World Bold" charset="1" panose="020B0800040000020004"/>
      <p:regular r:id="rId18"/>
    </p:embeddedFont>
    <p:embeddedFont>
      <p:font typeface="DM Sans" charset="1" panose="00000000000000000000"/>
      <p:regular r:id="rId19"/>
    </p:embeddedFont>
    <p:embeddedFont>
      <p:font typeface="Helvetica World" charset="1" panose="020B0500040000020004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7146" y="181303"/>
            <a:ext cx="4041236" cy="1326422"/>
            <a:chOff x="0" y="0"/>
            <a:chExt cx="8212277" cy="2695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12328" cy="2695448"/>
            </a:xfrm>
            <a:custGeom>
              <a:avLst/>
              <a:gdLst/>
              <a:ahLst/>
              <a:cxnLst/>
              <a:rect r="r" b="b" t="t" l="l"/>
              <a:pathLst>
                <a:path h="2695448" w="8212328">
                  <a:moveTo>
                    <a:pt x="0" y="0"/>
                  </a:moveTo>
                  <a:lnTo>
                    <a:pt x="8212328" y="0"/>
                  </a:lnTo>
                  <a:lnTo>
                    <a:pt x="8212328" y="2695448"/>
                  </a:lnTo>
                  <a:lnTo>
                    <a:pt x="0" y="2695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t="0" r="-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40619" y="3579424"/>
            <a:ext cx="14806762" cy="293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1"/>
              </a:lnSpc>
            </a:pPr>
            <a:r>
              <a:rPr lang="en-US" sz="63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Probabilistic Adaptive Traffic Signal Control in Intelligent Transport Systems (ITS)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22467" y="6929747"/>
            <a:ext cx="5243066" cy="223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</a:p>
          <a:p>
            <a:pPr algn="ctr">
              <a:lnSpc>
                <a:spcPts val="2997"/>
              </a:lnSpc>
            </a:pPr>
            <a:r>
              <a:rPr lang="en-US" sz="27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Hiya Soni AU2440084</a:t>
            </a:r>
          </a:p>
          <a:p>
            <a:pPr algn="ctr">
              <a:lnSpc>
                <a:spcPts val="2997"/>
              </a:lnSpc>
            </a:pPr>
            <a:r>
              <a:rPr lang="en-US" sz="27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Jay Daftari AU2440271</a:t>
            </a:r>
          </a:p>
          <a:p>
            <a:pPr algn="ctr">
              <a:lnSpc>
                <a:spcPts val="2997"/>
              </a:lnSpc>
            </a:pPr>
            <a:r>
              <a:rPr lang="en-US" sz="27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Arya Patel AU2440250</a:t>
            </a:r>
          </a:p>
          <a:p>
            <a:pPr algn="ctr">
              <a:lnSpc>
                <a:spcPts val="2997"/>
              </a:lnSpc>
            </a:pPr>
            <a:r>
              <a:rPr lang="en-US" sz="27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Swayam Prajapati AU2440087</a:t>
            </a:r>
          </a:p>
          <a:p>
            <a:pPr algn="ctr">
              <a:lnSpc>
                <a:spcPts val="2997"/>
              </a:lnSpc>
              <a:spcBef>
                <a:spcPct val="0"/>
              </a:spcBef>
            </a:pPr>
            <a:r>
              <a:rPr lang="en-US" sz="277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Ahladita Chaudhary AU2440243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0619" y="2462705"/>
            <a:ext cx="14806762" cy="67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GROUP 17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86000" y="5876901"/>
            <a:ext cx="6484523" cy="2820768"/>
          </a:xfrm>
          <a:custGeom>
            <a:avLst/>
            <a:gdLst/>
            <a:ahLst/>
            <a:cxnLst/>
            <a:rect r="r" b="b" t="t" l="l"/>
            <a:pathLst>
              <a:path h="2820768" w="6484523">
                <a:moveTo>
                  <a:pt x="0" y="0"/>
                </a:moveTo>
                <a:lnTo>
                  <a:pt x="6484523" y="0"/>
                </a:lnTo>
                <a:lnTo>
                  <a:pt x="6484523" y="2820767"/>
                </a:lnTo>
                <a:lnTo>
                  <a:pt x="0" y="2820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46456" y="5761019"/>
            <a:ext cx="7859058" cy="3497281"/>
          </a:xfrm>
          <a:custGeom>
            <a:avLst/>
            <a:gdLst/>
            <a:ahLst/>
            <a:cxnLst/>
            <a:rect r="r" b="b" t="t" l="l"/>
            <a:pathLst>
              <a:path h="3497281" w="7859058">
                <a:moveTo>
                  <a:pt x="0" y="0"/>
                </a:moveTo>
                <a:lnTo>
                  <a:pt x="7859058" y="0"/>
                </a:lnTo>
                <a:lnTo>
                  <a:pt x="7859058" y="3497281"/>
                </a:lnTo>
                <a:lnTo>
                  <a:pt x="0" y="3497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38220" y="173338"/>
            <a:ext cx="17404928" cy="209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9"/>
              </a:lnSpc>
            </a:pPr>
            <a:r>
              <a:rPr lang="en-US" b="true" sz="6028">
                <a:solidFill>
                  <a:srgbClr val="80101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Context and Motivation</a:t>
            </a:r>
          </a:p>
          <a:p>
            <a:pPr algn="ctr">
              <a:lnSpc>
                <a:spcPts val="843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38220" y="1220729"/>
            <a:ext cx="17404928" cy="85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901317"/>
                </a:solidFill>
                <a:latin typeface="Canva Sans"/>
                <a:ea typeface="Canva Sans"/>
                <a:cs typeface="Canva Sans"/>
                <a:sym typeface="Canva Sans"/>
              </a:rPr>
              <a:t>Probabilistic Adaptive Traffic Signal Control in Intelligent Transport Systems</a:t>
            </a:r>
          </a:p>
          <a:p>
            <a:pPr algn="ctr">
              <a:lnSpc>
                <a:spcPts val="336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25295" y="2130047"/>
            <a:ext cx="13380500" cy="395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2" indent="-518161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Urban traffic signals typically operate on fixed schedules</a:t>
            </a:r>
          </a:p>
          <a:p>
            <a:pPr algn="l" marL="1036322" indent="-518161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Real-world traffic demand fluctuates continuously</a:t>
            </a:r>
          </a:p>
          <a:p>
            <a:pPr algn="l" marL="1036322" indent="-518161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Vehicle arrivals are inherently stochastic</a:t>
            </a:r>
          </a:p>
          <a:p>
            <a:pPr algn="l">
              <a:lnSpc>
                <a:spcPts val="518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08625" y="2639008"/>
            <a:ext cx="8554485" cy="4555263"/>
          </a:xfrm>
          <a:custGeom>
            <a:avLst/>
            <a:gdLst/>
            <a:ahLst/>
            <a:cxnLst/>
            <a:rect r="r" b="b" t="t" l="l"/>
            <a:pathLst>
              <a:path h="4555263" w="8554485">
                <a:moveTo>
                  <a:pt x="0" y="0"/>
                </a:moveTo>
                <a:lnTo>
                  <a:pt x="8554484" y="0"/>
                </a:lnTo>
                <a:lnTo>
                  <a:pt x="8554484" y="4555263"/>
                </a:lnTo>
                <a:lnTo>
                  <a:pt x="0" y="4555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87324"/>
            <a:ext cx="2925961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304" y="1522402"/>
            <a:ext cx="15099893" cy="198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minimize</a:t>
            </a: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the expected vehicle waiting time and queue length</a:t>
            </a:r>
          </a:p>
          <a:p>
            <a:pPr algn="ctr">
              <a:lnSpc>
                <a:spcPts val="518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839836"/>
            <a:ext cx="13072170" cy="14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4800" b="true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Estimated: </a:t>
            </a: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cu</a:t>
            </a: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rrent traffic congestion state</a:t>
            </a:r>
          </a:p>
          <a:p>
            <a:pPr algn="l">
              <a:lnSpc>
                <a:spcPts val="3216"/>
              </a:lnSpc>
            </a:pPr>
          </a:p>
          <a:p>
            <a:pPr algn="ctr">
              <a:lnSpc>
                <a:spcPts val="3216"/>
              </a:lnSpc>
            </a:pPr>
            <a:r>
              <a:rPr lang="en-US" b="true" sz="480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Decided: </a:t>
            </a: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Optimal signal phase at each time step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092729"/>
            <a:ext cx="8219337" cy="4101543"/>
            <a:chOff x="0" y="0"/>
            <a:chExt cx="10959116" cy="54687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40" y="57150"/>
              <a:ext cx="3146028" cy="1881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Scopes:</a:t>
              </a:r>
            </a:p>
            <a:p>
              <a:pPr algn="ctr">
                <a:lnSpc>
                  <a:spcPts val="5184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85394"/>
              <a:ext cx="10959116" cy="4283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014732" indent="-507366" lvl="1">
                <a:lnSpc>
                  <a:spcPts val="5076"/>
                </a:lnSpc>
                <a:buFont typeface="Arial"/>
                <a:buChar char="•"/>
              </a:pPr>
              <a:r>
                <a:rPr lang="en-US" sz="47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Single is</a:t>
              </a:r>
              <a:r>
                <a:rPr lang="en-US" sz="47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olated intersection</a:t>
              </a:r>
            </a:p>
            <a:p>
              <a:pPr algn="l">
                <a:lnSpc>
                  <a:spcPts val="5076"/>
                </a:lnSpc>
              </a:pPr>
              <a:r>
                <a:rPr lang="en-US" sz="47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     with multi-phase control.</a:t>
              </a:r>
            </a:p>
            <a:p>
              <a:pPr algn="l" marL="1014732" indent="-507366" lvl="1">
                <a:lnSpc>
                  <a:spcPts val="5076"/>
                </a:lnSpc>
                <a:buFont typeface="Arial"/>
                <a:buChar char="•"/>
              </a:pPr>
              <a:r>
                <a:rPr lang="en-US" sz="47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Real-time adaptive signal control using Markov Decision Processes (MDP)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37964" y="225173"/>
            <a:ext cx="18281608" cy="184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</a:t>
            </a:r>
          </a:p>
          <a:p>
            <a:pPr algn="l">
              <a:lnSpc>
                <a:spcPts val="830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-290736" y="1293947"/>
            <a:ext cx="16292736" cy="147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3"/>
              </a:lnSpc>
              <a:spcBef>
                <a:spcPct val="0"/>
              </a:spcBef>
            </a:pPr>
            <a:r>
              <a:rPr lang="en-US" sz="52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52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raffic sensing → State estimation → Probabilistic decision → Signal actuation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864" y="3394019"/>
            <a:ext cx="7842647" cy="74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801B1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maj</a:t>
            </a:r>
            <a:r>
              <a:rPr lang="en-US" b="true" sz="4800">
                <a:solidFill>
                  <a:srgbClr val="801B1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or components 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7964" y="4191071"/>
            <a:ext cx="15117842" cy="198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2" indent="-518161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Traffic sensors and detectors.</a:t>
            </a:r>
          </a:p>
          <a:p>
            <a:pPr algn="l" marL="1036322" indent="-518161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State estimation module.</a:t>
            </a:r>
          </a:p>
          <a:p>
            <a:pPr algn="l" marL="1036322" indent="-518161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Decision module based on Markov Decision Process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7964" y="6807399"/>
            <a:ext cx="17550036" cy="205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Flow</a:t>
            </a:r>
          </a:p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Observed traffic data is converted into state information for     control decisions.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7705423"/>
            <a:ext cx="15773400" cy="4279106"/>
            <a:chOff x="0" y="0"/>
            <a:chExt cx="21031200" cy="5705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5705473"/>
            </a:xfrm>
            <a:custGeom>
              <a:avLst/>
              <a:gdLst/>
              <a:ahLst/>
              <a:cxnLst/>
              <a:rect r="r" b="b" t="t" l="l"/>
              <a:pathLst>
                <a:path h="570547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3"/>
                  </a:lnTo>
                  <a:lnTo>
                    <a:pt x="0" y="57054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824" r="0" b="-218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21031200" cy="56197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7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5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57300" y="2208615"/>
            <a:ext cx="3089353" cy="2934885"/>
          </a:xfrm>
          <a:custGeom>
            <a:avLst/>
            <a:gdLst/>
            <a:ahLst/>
            <a:cxnLst/>
            <a:rect r="r" b="b" t="t" l="l"/>
            <a:pathLst>
              <a:path h="2934885" w="3089353">
                <a:moveTo>
                  <a:pt x="0" y="0"/>
                </a:moveTo>
                <a:lnTo>
                  <a:pt x="3089353" y="0"/>
                </a:lnTo>
                <a:lnTo>
                  <a:pt x="3089353" y="2934885"/>
                </a:lnTo>
                <a:lnTo>
                  <a:pt x="0" y="29348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624639" y="2578877"/>
            <a:ext cx="3696324" cy="2442935"/>
          </a:xfrm>
          <a:custGeom>
            <a:avLst/>
            <a:gdLst/>
            <a:ahLst/>
            <a:cxnLst/>
            <a:rect r="r" b="b" t="t" l="l"/>
            <a:pathLst>
              <a:path h="2442935" w="3696324">
                <a:moveTo>
                  <a:pt x="0" y="0"/>
                </a:moveTo>
                <a:lnTo>
                  <a:pt x="3696323" y="0"/>
                </a:lnTo>
                <a:lnTo>
                  <a:pt x="3696323" y="2442935"/>
                </a:lnTo>
                <a:lnTo>
                  <a:pt x="0" y="2442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59" t="-2116" r="-459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97437" y="2578877"/>
            <a:ext cx="3403052" cy="2694501"/>
          </a:xfrm>
          <a:custGeom>
            <a:avLst/>
            <a:gdLst/>
            <a:ahLst/>
            <a:cxnLst/>
            <a:rect r="r" b="b" t="t" l="l"/>
            <a:pathLst>
              <a:path h="2694501" w="3403052">
                <a:moveTo>
                  <a:pt x="0" y="0"/>
                </a:moveTo>
                <a:lnTo>
                  <a:pt x="3403052" y="0"/>
                </a:lnTo>
                <a:lnTo>
                  <a:pt x="3403052" y="2694501"/>
                </a:lnTo>
                <a:lnTo>
                  <a:pt x="0" y="26945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702" r="0" b="-170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0701" y="787490"/>
            <a:ext cx="17966598" cy="100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5"/>
              </a:lnSpc>
            </a:pPr>
            <a:r>
              <a:rPr lang="en-US" sz="5925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Sources of uncertainty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9313" y="5191125"/>
            <a:ext cx="5346215" cy="180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513" indent="-457257" lvl="1">
              <a:lnSpc>
                <a:spcPts val="4574"/>
              </a:lnSpc>
              <a:buFont typeface="Arial"/>
              <a:buChar char="•"/>
            </a:pPr>
            <a:r>
              <a:rPr lang="en-US" sz="42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Sens</a:t>
            </a:r>
            <a:r>
              <a:rPr lang="en-US" sz="42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 errors </a:t>
            </a:r>
          </a:p>
          <a:p>
            <a:pPr algn="ctr" marL="914513" indent="-457257" lvl="1">
              <a:lnSpc>
                <a:spcPts val="4574"/>
              </a:lnSpc>
              <a:buFont typeface="Arial"/>
              <a:buChar char="•"/>
            </a:pPr>
            <a:r>
              <a:rPr lang="en-US" sz="42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missed detections </a:t>
            </a:r>
          </a:p>
          <a:p>
            <a:pPr algn="l" marL="914513" indent="-457257" lvl="1">
              <a:lnSpc>
                <a:spcPts val="4574"/>
              </a:lnSpc>
              <a:buFont typeface="Arial"/>
              <a:buChar char="•"/>
            </a:pPr>
            <a:r>
              <a:rPr lang="en-US" sz="42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423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elayed readings</a:t>
            </a:r>
            <a:r>
              <a:rPr lang="en-US" b="true" sz="4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6529" y="5191125"/>
            <a:ext cx="5338085" cy="233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3111" indent="-456556" lvl="1">
              <a:lnSpc>
                <a:spcPts val="4567"/>
              </a:lnSpc>
              <a:buFont typeface="Arial"/>
              <a:buChar char="•"/>
            </a:pPr>
            <a:r>
              <a:rPr lang="en-US" sz="42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Weathe</a:t>
            </a:r>
            <a:r>
              <a:rPr lang="en-US" sz="42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 changes, Accidents</a:t>
            </a:r>
          </a:p>
          <a:p>
            <a:pPr algn="l" marL="913111" indent="-456556" lvl="1">
              <a:lnSpc>
                <a:spcPts val="4567"/>
              </a:lnSpc>
              <a:buFont typeface="Arial"/>
              <a:buChar char="•"/>
            </a:pPr>
            <a:r>
              <a:rPr lang="en-US" sz="42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Road disturbances.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45613" y="5191125"/>
            <a:ext cx="5793873" cy="344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077" indent="-455038" lvl="1">
              <a:lnSpc>
                <a:spcPts val="4552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Simplified</a:t>
            </a:r>
            <a:r>
              <a:rPr lang="en-US" sz="421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representations of complex traffic dynamics </a:t>
            </a:r>
          </a:p>
          <a:p>
            <a:pPr algn="l" marL="910077" indent="-455038" lvl="1">
              <a:lnSpc>
                <a:spcPts val="4552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Limited observability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6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15641" y="7569089"/>
            <a:ext cx="17145000" cy="134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8"/>
              </a:lnSpc>
              <a:spcBef>
                <a:spcPct val="0"/>
              </a:spcBef>
            </a:pPr>
            <a:r>
              <a:rPr lang="en-US" b="true" sz="460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Role in the Project:</a:t>
            </a:r>
            <a:r>
              <a:rPr lang="en-US" b="true" sz="46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46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Capture arrival randomness, system condition, and delay reduction effectiveness.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8220" y="1690657"/>
            <a:ext cx="5478213" cy="2309614"/>
            <a:chOff x="0" y="0"/>
            <a:chExt cx="659573" cy="2780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9573" cy="278076"/>
            </a:xfrm>
            <a:custGeom>
              <a:avLst/>
              <a:gdLst/>
              <a:ahLst/>
              <a:cxnLst/>
              <a:rect r="r" b="b" t="t" l="l"/>
              <a:pathLst>
                <a:path h="278076" w="659573">
                  <a:moveTo>
                    <a:pt x="27602" y="0"/>
                  </a:moveTo>
                  <a:lnTo>
                    <a:pt x="631971" y="0"/>
                  </a:lnTo>
                  <a:cubicBezTo>
                    <a:pt x="647215" y="0"/>
                    <a:pt x="659573" y="12358"/>
                    <a:pt x="659573" y="27602"/>
                  </a:cubicBezTo>
                  <a:lnTo>
                    <a:pt x="659573" y="250474"/>
                  </a:lnTo>
                  <a:cubicBezTo>
                    <a:pt x="659573" y="265718"/>
                    <a:pt x="647215" y="278076"/>
                    <a:pt x="631971" y="278076"/>
                  </a:cubicBezTo>
                  <a:lnTo>
                    <a:pt x="27602" y="278076"/>
                  </a:lnTo>
                  <a:cubicBezTo>
                    <a:pt x="12358" y="278076"/>
                    <a:pt x="0" y="265718"/>
                    <a:pt x="0" y="250474"/>
                  </a:cubicBezTo>
                  <a:lnTo>
                    <a:pt x="0" y="27602"/>
                  </a:lnTo>
                  <a:cubicBezTo>
                    <a:pt x="0" y="12358"/>
                    <a:pt x="12358" y="0"/>
                    <a:pt x="27602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59573" cy="278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3324" y="79154"/>
            <a:ext cx="15741351" cy="101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02"/>
              </a:lnSpc>
            </a:pPr>
            <a:r>
              <a:rPr lang="en-US" sz="593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Random Variables and Their Roles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09009" y="1690657"/>
            <a:ext cx="5699944" cy="2309614"/>
            <a:chOff x="0" y="0"/>
            <a:chExt cx="686269" cy="2780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6269" cy="278076"/>
            </a:xfrm>
            <a:custGeom>
              <a:avLst/>
              <a:gdLst/>
              <a:ahLst/>
              <a:cxnLst/>
              <a:rect r="r" b="b" t="t" l="l"/>
              <a:pathLst>
                <a:path h="278076" w="686269">
                  <a:moveTo>
                    <a:pt x="26528" y="0"/>
                  </a:moveTo>
                  <a:lnTo>
                    <a:pt x="659741" y="0"/>
                  </a:lnTo>
                  <a:cubicBezTo>
                    <a:pt x="666776" y="0"/>
                    <a:pt x="673524" y="2795"/>
                    <a:pt x="678499" y="7770"/>
                  </a:cubicBezTo>
                  <a:cubicBezTo>
                    <a:pt x="683474" y="12745"/>
                    <a:pt x="686269" y="19493"/>
                    <a:pt x="686269" y="26528"/>
                  </a:cubicBezTo>
                  <a:lnTo>
                    <a:pt x="686269" y="251547"/>
                  </a:lnTo>
                  <a:cubicBezTo>
                    <a:pt x="686269" y="266199"/>
                    <a:pt x="674392" y="278076"/>
                    <a:pt x="659741" y="278076"/>
                  </a:cubicBezTo>
                  <a:lnTo>
                    <a:pt x="26528" y="278076"/>
                  </a:lnTo>
                  <a:cubicBezTo>
                    <a:pt x="11877" y="278076"/>
                    <a:pt x="0" y="266199"/>
                    <a:pt x="0" y="251547"/>
                  </a:cubicBezTo>
                  <a:lnTo>
                    <a:pt x="0" y="26528"/>
                  </a:lnTo>
                  <a:cubicBezTo>
                    <a:pt x="0" y="11877"/>
                    <a:pt x="11877" y="0"/>
                    <a:pt x="26528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86269" cy="278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01529" y="1690657"/>
            <a:ext cx="5274120" cy="2309614"/>
            <a:chOff x="0" y="0"/>
            <a:chExt cx="635000" cy="2780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278076"/>
            </a:xfrm>
            <a:custGeom>
              <a:avLst/>
              <a:gdLst/>
              <a:ahLst/>
              <a:cxnLst/>
              <a:rect r="r" b="b" t="t" l="l"/>
              <a:pathLst>
                <a:path h="278076" w="635000">
                  <a:moveTo>
                    <a:pt x="28670" y="0"/>
                  </a:moveTo>
                  <a:lnTo>
                    <a:pt x="606330" y="0"/>
                  </a:lnTo>
                  <a:cubicBezTo>
                    <a:pt x="613934" y="0"/>
                    <a:pt x="621226" y="3021"/>
                    <a:pt x="626603" y="8397"/>
                  </a:cubicBezTo>
                  <a:cubicBezTo>
                    <a:pt x="631979" y="13774"/>
                    <a:pt x="635000" y="21066"/>
                    <a:pt x="635000" y="28670"/>
                  </a:cubicBezTo>
                  <a:lnTo>
                    <a:pt x="635000" y="249406"/>
                  </a:lnTo>
                  <a:cubicBezTo>
                    <a:pt x="635000" y="257009"/>
                    <a:pt x="631979" y="264302"/>
                    <a:pt x="626603" y="269678"/>
                  </a:cubicBezTo>
                  <a:cubicBezTo>
                    <a:pt x="621226" y="275055"/>
                    <a:pt x="613934" y="278076"/>
                    <a:pt x="606330" y="278076"/>
                  </a:cubicBezTo>
                  <a:lnTo>
                    <a:pt x="28670" y="278076"/>
                  </a:lnTo>
                  <a:cubicBezTo>
                    <a:pt x="21066" y="278076"/>
                    <a:pt x="13774" y="275055"/>
                    <a:pt x="8397" y="269678"/>
                  </a:cubicBezTo>
                  <a:cubicBezTo>
                    <a:pt x="3021" y="264302"/>
                    <a:pt x="0" y="257009"/>
                    <a:pt x="0" y="249406"/>
                  </a:cubicBezTo>
                  <a:lnTo>
                    <a:pt x="0" y="28670"/>
                  </a:lnTo>
                  <a:cubicBezTo>
                    <a:pt x="0" y="21066"/>
                    <a:pt x="3021" y="13774"/>
                    <a:pt x="8397" y="8397"/>
                  </a:cubicBezTo>
                  <a:cubicBezTo>
                    <a:pt x="13774" y="3021"/>
                    <a:pt x="21066" y="0"/>
                    <a:pt x="28670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35000" cy="278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8220" y="4676545"/>
            <a:ext cx="5478213" cy="2389204"/>
            <a:chOff x="0" y="0"/>
            <a:chExt cx="659573" cy="2876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9573" cy="287658"/>
            </a:xfrm>
            <a:custGeom>
              <a:avLst/>
              <a:gdLst/>
              <a:ahLst/>
              <a:cxnLst/>
              <a:rect r="r" b="b" t="t" l="l"/>
              <a:pathLst>
                <a:path h="287658" w="659573">
                  <a:moveTo>
                    <a:pt x="27602" y="0"/>
                  </a:moveTo>
                  <a:lnTo>
                    <a:pt x="631971" y="0"/>
                  </a:lnTo>
                  <a:cubicBezTo>
                    <a:pt x="647215" y="0"/>
                    <a:pt x="659573" y="12358"/>
                    <a:pt x="659573" y="27602"/>
                  </a:cubicBezTo>
                  <a:lnTo>
                    <a:pt x="659573" y="260056"/>
                  </a:lnTo>
                  <a:cubicBezTo>
                    <a:pt x="659573" y="275301"/>
                    <a:pt x="647215" y="287658"/>
                    <a:pt x="631971" y="287658"/>
                  </a:cubicBezTo>
                  <a:lnTo>
                    <a:pt x="27602" y="287658"/>
                  </a:lnTo>
                  <a:cubicBezTo>
                    <a:pt x="12358" y="287658"/>
                    <a:pt x="0" y="275301"/>
                    <a:pt x="0" y="260056"/>
                  </a:cubicBezTo>
                  <a:lnTo>
                    <a:pt x="0" y="27602"/>
                  </a:lnTo>
                  <a:cubicBezTo>
                    <a:pt x="0" y="12358"/>
                    <a:pt x="12358" y="0"/>
                    <a:pt x="27602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59573" cy="28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509009" y="4666805"/>
            <a:ext cx="5699944" cy="2389204"/>
            <a:chOff x="0" y="0"/>
            <a:chExt cx="686269" cy="2876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269" cy="287658"/>
            </a:xfrm>
            <a:custGeom>
              <a:avLst/>
              <a:gdLst/>
              <a:ahLst/>
              <a:cxnLst/>
              <a:rect r="r" b="b" t="t" l="l"/>
              <a:pathLst>
                <a:path h="287658" w="686269">
                  <a:moveTo>
                    <a:pt x="26528" y="0"/>
                  </a:moveTo>
                  <a:lnTo>
                    <a:pt x="659741" y="0"/>
                  </a:lnTo>
                  <a:cubicBezTo>
                    <a:pt x="666776" y="0"/>
                    <a:pt x="673524" y="2795"/>
                    <a:pt x="678499" y="7770"/>
                  </a:cubicBezTo>
                  <a:cubicBezTo>
                    <a:pt x="683474" y="12745"/>
                    <a:pt x="686269" y="19493"/>
                    <a:pt x="686269" y="26528"/>
                  </a:cubicBezTo>
                  <a:lnTo>
                    <a:pt x="686269" y="261130"/>
                  </a:lnTo>
                  <a:cubicBezTo>
                    <a:pt x="686269" y="275781"/>
                    <a:pt x="674392" y="287658"/>
                    <a:pt x="659741" y="287658"/>
                  </a:cubicBezTo>
                  <a:lnTo>
                    <a:pt x="26528" y="287658"/>
                  </a:lnTo>
                  <a:cubicBezTo>
                    <a:pt x="11877" y="287658"/>
                    <a:pt x="0" y="275781"/>
                    <a:pt x="0" y="261130"/>
                  </a:cubicBezTo>
                  <a:lnTo>
                    <a:pt x="0" y="26528"/>
                  </a:lnTo>
                  <a:cubicBezTo>
                    <a:pt x="0" y="11877"/>
                    <a:pt x="11877" y="0"/>
                    <a:pt x="26528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86269" cy="28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01529" y="4676545"/>
            <a:ext cx="5274120" cy="2389204"/>
            <a:chOff x="0" y="0"/>
            <a:chExt cx="635000" cy="2876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" cy="287658"/>
            </a:xfrm>
            <a:custGeom>
              <a:avLst/>
              <a:gdLst/>
              <a:ahLst/>
              <a:cxnLst/>
              <a:rect r="r" b="b" t="t" l="l"/>
              <a:pathLst>
                <a:path h="287658" w="635000">
                  <a:moveTo>
                    <a:pt x="28670" y="0"/>
                  </a:moveTo>
                  <a:lnTo>
                    <a:pt x="606330" y="0"/>
                  </a:lnTo>
                  <a:cubicBezTo>
                    <a:pt x="613934" y="0"/>
                    <a:pt x="621226" y="3021"/>
                    <a:pt x="626603" y="8397"/>
                  </a:cubicBezTo>
                  <a:cubicBezTo>
                    <a:pt x="631979" y="13774"/>
                    <a:pt x="635000" y="21066"/>
                    <a:pt x="635000" y="28670"/>
                  </a:cubicBezTo>
                  <a:lnTo>
                    <a:pt x="635000" y="258988"/>
                  </a:lnTo>
                  <a:cubicBezTo>
                    <a:pt x="635000" y="266592"/>
                    <a:pt x="631979" y="273884"/>
                    <a:pt x="626603" y="279261"/>
                  </a:cubicBezTo>
                  <a:cubicBezTo>
                    <a:pt x="621226" y="284638"/>
                    <a:pt x="613934" y="287658"/>
                    <a:pt x="606330" y="287658"/>
                  </a:cubicBezTo>
                  <a:lnTo>
                    <a:pt x="28670" y="287658"/>
                  </a:lnTo>
                  <a:cubicBezTo>
                    <a:pt x="21066" y="287658"/>
                    <a:pt x="13774" y="284638"/>
                    <a:pt x="8397" y="279261"/>
                  </a:cubicBezTo>
                  <a:cubicBezTo>
                    <a:pt x="3021" y="273884"/>
                    <a:pt x="0" y="266592"/>
                    <a:pt x="0" y="258988"/>
                  </a:cubicBezTo>
                  <a:lnTo>
                    <a:pt x="0" y="28670"/>
                  </a:lnTo>
                  <a:cubicBezTo>
                    <a:pt x="0" y="21066"/>
                    <a:pt x="3021" y="13774"/>
                    <a:pt x="8397" y="8397"/>
                  </a:cubicBezTo>
                  <a:cubicBezTo>
                    <a:pt x="13774" y="3021"/>
                    <a:pt x="21066" y="0"/>
                    <a:pt x="28670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35000" cy="28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01698" y="2075741"/>
            <a:ext cx="4772148" cy="155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3"/>
              </a:lnSpc>
              <a:spcBef>
                <a:spcPct val="0"/>
              </a:spcBef>
            </a:pPr>
            <a:r>
              <a:rPr lang="en-US" sz="378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Vehicles</a:t>
            </a:r>
            <a:r>
              <a:rPr lang="en-US" sz="378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arrive randomly in each time interval Δt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21921" y="2128331"/>
            <a:ext cx="5195679" cy="153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6"/>
              </a:lnSpc>
              <a:spcBef>
                <a:spcPct val="0"/>
              </a:spcBef>
            </a:pPr>
            <a:r>
              <a:rPr lang="en-US" sz="372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72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rrival rate(λ) changes with time due to traffic fluctuations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16537" y="2343060"/>
            <a:ext cx="4844104" cy="101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  <a:spcBef>
                <a:spcPct val="0"/>
              </a:spcBef>
            </a:pPr>
            <a:r>
              <a:rPr lang="en-US" sz="3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Inp</a:t>
            </a:r>
            <a:r>
              <a:rPr lang="en-US" sz="3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ut Flow qᵢₙ(k) at time step k varies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0806" y="5093554"/>
            <a:ext cx="4793040" cy="15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4"/>
              </a:lnSpc>
              <a:spcBef>
                <a:spcPct val="0"/>
              </a:spcBef>
            </a:pPr>
            <a:r>
              <a:rPr lang="en-US" sz="36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6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utput Flow qₒᵤₜ(k) depends on signal timing and queue size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00362" y="5093533"/>
            <a:ext cx="5117238" cy="152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  <a:spcBef>
                <a:spcPct val="0"/>
              </a:spcBef>
            </a:pPr>
            <a:r>
              <a:rPr lang="en-US" sz="3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Congesti</a:t>
            </a:r>
            <a:r>
              <a:rPr lang="en-US" sz="3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State: Traffic is congested if queue &gt; threshold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01529" y="5114040"/>
            <a:ext cx="5274120" cy="153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1"/>
              </a:lnSpc>
              <a:spcBef>
                <a:spcPct val="0"/>
              </a:spcBef>
            </a:pPr>
            <a:r>
              <a:rPr lang="en-US" sz="370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Congesti</a:t>
            </a:r>
            <a:r>
              <a:rPr lang="en-US" sz="370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state changes are uncertain and probabilistic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7775" y="2564606"/>
            <a:ext cx="15773400" cy="4279106"/>
            <a:chOff x="0" y="0"/>
            <a:chExt cx="21031200" cy="5705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5705473"/>
            </a:xfrm>
            <a:custGeom>
              <a:avLst/>
              <a:gdLst/>
              <a:ahLst/>
              <a:cxnLst/>
              <a:rect r="r" b="b" t="t" l="l"/>
              <a:pathLst>
                <a:path h="570547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3"/>
                  </a:lnTo>
                  <a:lnTo>
                    <a:pt x="0" y="57054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965" r="0" b="-1089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21031200" cy="56197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7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7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8220" y="177925"/>
            <a:ext cx="17574052" cy="2023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2"/>
              </a:lnSpc>
            </a:pPr>
            <a:r>
              <a:rPr lang="en-US" sz="563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Probabilistic Models and Assumptions</a:t>
            </a:r>
          </a:p>
          <a:p>
            <a:pPr algn="ctr">
              <a:lnSpc>
                <a:spcPts val="842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753076"/>
            <a:ext cx="12404014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 models used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517140"/>
            <a:ext cx="15773400" cy="125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4" indent="-431802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Poiss</a:t>
            </a: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distribution models vehicle arrivals.</a:t>
            </a:r>
          </a:p>
          <a:p>
            <a:pPr algn="l" marL="863604" indent="-431802" lvl="1">
              <a:lnSpc>
                <a:spcPts val="3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Markov Decision Process models</a:t>
            </a:r>
            <a:r>
              <a:rPr lang="en-US" b="true" sz="4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sequential signal control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2818" y="4331970"/>
            <a:ext cx="5117902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</a:t>
            </a: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Assumptions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323521"/>
            <a:ext cx="14604088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4" indent="-431802" lvl="1">
              <a:lnSpc>
                <a:spcPts val="384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Future state depends </a:t>
            </a: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only on current state and chosen action.</a:t>
            </a:r>
          </a:p>
          <a:p>
            <a:pPr algn="l">
              <a:lnSpc>
                <a:spcPts val="3840"/>
              </a:lnSpc>
            </a:pPr>
          </a:p>
          <a:p>
            <a:pPr algn="ctr">
              <a:lnSpc>
                <a:spcPts val="432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47775" y="6759242"/>
            <a:ext cx="15091186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9"/>
              </a:lnSpc>
            </a:pPr>
          </a:p>
          <a:p>
            <a:pPr algn="just" marL="863599" indent="-431800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Traffic arrivals exhibit random and near memoryless behavior at short timescales.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2818" y="6272514"/>
            <a:ext cx="3758208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Justification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7775" y="2564606"/>
            <a:ext cx="15773400" cy="4279106"/>
            <a:chOff x="0" y="0"/>
            <a:chExt cx="21031200" cy="5705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5705473"/>
            </a:xfrm>
            <a:custGeom>
              <a:avLst/>
              <a:gdLst/>
              <a:ahLst/>
              <a:cxnLst/>
              <a:rect r="r" b="b" t="t" l="l"/>
              <a:pathLst>
                <a:path h="570547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3"/>
                  </a:lnTo>
                  <a:lnTo>
                    <a:pt x="0" y="57054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965" r="0" b="-1089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21031200" cy="56197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7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8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47775" y="604895"/>
            <a:ext cx="15941129" cy="91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4"/>
              </a:lnSpc>
              <a:spcBef>
                <a:spcPct val="0"/>
              </a:spcBef>
            </a:pPr>
            <a:r>
              <a:rPr lang="en-US" b="true" sz="593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Probabilistic Reasoning and Inference Logic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3115" y="1894352"/>
            <a:ext cx="17654885" cy="20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Unce</a:t>
            </a: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rtainty Propagation:</a:t>
            </a:r>
          </a:p>
          <a:p>
            <a:pPr algn="l" marL="1036367" indent="-518183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Random arrivals lead to uncertain queue lengths and traffic states.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3115" y="4144897"/>
            <a:ext cx="17654885" cy="20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Role </a:t>
            </a: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of Probabilistic Reasoning:</a:t>
            </a:r>
          </a:p>
          <a:p>
            <a:pPr algn="l" marL="1036367" indent="-518183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Evaluate signal actions using expected outcomes rather than deterministic values.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3115" y="6399278"/>
            <a:ext cx="17203228" cy="205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5"/>
              </a:lnSpc>
              <a:spcBef>
                <a:spcPct val="0"/>
              </a:spcBef>
            </a:pPr>
            <a:r>
              <a:rPr lang="en-US" b="true" sz="480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</a:t>
            </a:r>
            <a:r>
              <a:rPr lang="en-US" b="true" sz="480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onceptual Reasoning Path:</a:t>
            </a:r>
          </a:p>
          <a:p>
            <a:pPr algn="l" marL="1036634" indent="-518317" lvl="1">
              <a:lnSpc>
                <a:spcPts val="5185"/>
              </a:lnSpc>
              <a:buFont typeface="Arial"/>
              <a:buChar char="•"/>
            </a:pPr>
            <a:r>
              <a:rPr lang="en-US" sz="48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Observe current state → Compute expected reward → Select optimal action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9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11941" y="604895"/>
            <a:ext cx="15464118" cy="91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4"/>
              </a:lnSpc>
              <a:spcBef>
                <a:spcPct val="0"/>
              </a:spcBef>
            </a:pPr>
            <a:r>
              <a:rPr lang="en-US" b="true" sz="593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Oper</a:t>
            </a:r>
            <a:r>
              <a:rPr lang="en-US" b="true" sz="593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ationalizing Probabilistic Reasoning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417" y="1968722"/>
            <a:ext cx="11878328" cy="73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Realization</a:t>
            </a: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in Practice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8493" y="2748632"/>
            <a:ext cx="11567160" cy="110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51" indent="-431826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Simulation of stoch</a:t>
            </a: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astic traffic arrival processes.</a:t>
            </a:r>
          </a:p>
          <a:p>
            <a:pPr algn="l" marL="863651" indent="-431826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Repeated evaluation of state–action transitions.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8493" y="4321016"/>
            <a:ext cx="5392936" cy="73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Eva</a:t>
            </a: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luation Metrics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8493" y="5181600"/>
            <a:ext cx="6163151" cy="110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51" indent="-431826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Expected waitin</a:t>
            </a: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 time.</a:t>
            </a:r>
          </a:p>
          <a:p>
            <a:pPr algn="ctr" marL="863651" indent="-431826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Expected queue length.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5879" y="6972973"/>
            <a:ext cx="7402709" cy="73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Simplified Assumption: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9398" y="7752883"/>
            <a:ext cx="13403699" cy="110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651" indent="-431826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Disc</a:t>
            </a:r>
            <a:r>
              <a:rPr lang="en-US" sz="4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rete time steps and limited state space for feasibility.</a:t>
            </a:r>
          </a:p>
          <a:p>
            <a:pPr algn="ctr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10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5016" y="289606"/>
            <a:ext cx="15157968" cy="91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4"/>
              </a:lnSpc>
              <a:spcBef>
                <a:spcPct val="0"/>
              </a:spcBef>
            </a:pPr>
            <a:r>
              <a:rPr lang="en-US" b="true" sz="593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Current Limitations and Conceptual Gaps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8220" y="1403917"/>
            <a:ext cx="17374113" cy="744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Known Weaknesses</a:t>
            </a:r>
          </a:p>
          <a:p>
            <a:pPr algn="just" marL="1036320" indent="-518160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Simplified view of traffic states.</a:t>
            </a:r>
          </a:p>
          <a:p>
            <a:pPr algn="just" marL="1036320" indent="-518160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Strong reliance on sensing quality.</a:t>
            </a:r>
          </a:p>
          <a:p>
            <a:pPr algn="just">
              <a:lnSpc>
                <a:spcPts val="5184"/>
              </a:lnSpc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just">
              <a:lnSpc>
                <a:spcPts val="5184"/>
              </a:lnSpc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Unverified Assumptions</a:t>
            </a:r>
          </a:p>
          <a:p>
            <a:pPr algn="just" marL="1036320" indent="-518160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Arrivals treated as independent.</a:t>
            </a:r>
          </a:p>
          <a:p>
            <a:pPr algn="just" marL="1036320" indent="-518160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Traffic flow assumed steady over short periods.</a:t>
            </a:r>
          </a:p>
          <a:p>
            <a:pPr algn="just">
              <a:lnSpc>
                <a:spcPts val="5184"/>
              </a:lnSpc>
            </a:pPr>
          </a:p>
          <a:p>
            <a:pPr algn="just">
              <a:lnSpc>
                <a:spcPts val="5184"/>
              </a:lnSpc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Conceptual Gaps</a:t>
            </a:r>
          </a:p>
          <a:p>
            <a:pPr algn="just" marL="1036320" indent="-518160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Limited support for large networks.</a:t>
            </a:r>
          </a:p>
          <a:p>
            <a:pPr algn="just" marL="1036320" indent="-518160" lvl="1">
              <a:lnSpc>
                <a:spcPts val="5184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Gaps in extreme‑congestion modeling.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97760" y="448453"/>
            <a:ext cx="16492480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4"/>
              </a:lnSpc>
              <a:spcBef>
                <a:spcPct val="0"/>
              </a:spcBef>
            </a:pPr>
            <a:r>
              <a:rPr lang="en-US" b="true" sz="593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Planned Refinements and Role Coordination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8220" y="1822796"/>
            <a:ext cx="11901876" cy="73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Next</a:t>
            </a: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Milestone Evolution: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9361" y="2655456"/>
            <a:ext cx="11609666" cy="121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0009" indent="-475005" lvl="1">
              <a:lnSpc>
                <a:spcPts val="475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Fine</a:t>
            </a:r>
            <a:r>
              <a:rPr lang="en-US" sz="4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r-grained traffic state modeling.</a:t>
            </a:r>
          </a:p>
          <a:p>
            <a:pPr algn="l" marL="950009" indent="-475005" lvl="1">
              <a:lnSpc>
                <a:spcPts val="475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realistic arrival and departure patterns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8220" y="6271777"/>
            <a:ext cx="5461992" cy="73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ole Coordination: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361" y="7057783"/>
            <a:ext cx="14784586" cy="181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0009" indent="-475005" lvl="1">
              <a:lnSpc>
                <a:spcPts val="475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Reviewer validates assumptions and l</a:t>
            </a:r>
            <a:r>
              <a:rPr lang="en-US" sz="4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ogic.</a:t>
            </a:r>
          </a:p>
          <a:p>
            <a:pPr algn="l" marL="950009" indent="-475005" lvl="1">
              <a:lnSpc>
                <a:spcPts val="475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GitHub manager handles version control and integration.</a:t>
            </a:r>
          </a:p>
          <a:p>
            <a:pPr algn="ctr">
              <a:lnSpc>
                <a:spcPts val="4752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79361" y="5196957"/>
            <a:ext cx="12359255" cy="61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0009" indent="-475005" lvl="1">
              <a:lnSpc>
                <a:spcPts val="475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refinement and extended simulations.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8220" y="4257012"/>
            <a:ext cx="3869531" cy="73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Tasks</a:t>
            </a:r>
            <a:r>
              <a:rPr lang="en-US" b="true" sz="48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Ahead: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84" cy="566139"/>
            <a:chOff x="0" y="0"/>
            <a:chExt cx="1102246" cy="7548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42" cy="754854"/>
            </a:xfrm>
            <a:custGeom>
              <a:avLst/>
              <a:gdLst/>
              <a:ahLst/>
              <a:cxnLst/>
              <a:rect r="r" b="b" t="t" l="l"/>
              <a:pathLst>
                <a:path h="754854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4"/>
                  </a:lnTo>
                  <a:lnTo>
                    <a:pt x="0" y="754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02246" cy="75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12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090648" y="317974"/>
            <a:ext cx="4106704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4"/>
              </a:lnSpc>
              <a:spcBef>
                <a:spcPct val="0"/>
              </a:spcBef>
            </a:pPr>
            <a:r>
              <a:rPr lang="en-US" b="true" sz="5930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2344" y="1524482"/>
            <a:ext cx="5018476" cy="7514459"/>
            <a:chOff x="0" y="0"/>
            <a:chExt cx="1321739" cy="19791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1739" cy="1979117"/>
            </a:xfrm>
            <a:custGeom>
              <a:avLst/>
              <a:gdLst/>
              <a:ahLst/>
              <a:cxnLst/>
              <a:rect r="r" b="b" t="t" l="l"/>
              <a:pathLst>
                <a:path h="1979117" w="1321739">
                  <a:moveTo>
                    <a:pt x="78677" y="0"/>
                  </a:moveTo>
                  <a:lnTo>
                    <a:pt x="1243062" y="0"/>
                  </a:lnTo>
                  <a:cubicBezTo>
                    <a:pt x="1286514" y="0"/>
                    <a:pt x="1321739" y="35225"/>
                    <a:pt x="1321739" y="78677"/>
                  </a:cubicBezTo>
                  <a:lnTo>
                    <a:pt x="1321739" y="1900440"/>
                  </a:lnTo>
                  <a:cubicBezTo>
                    <a:pt x="1321739" y="1921306"/>
                    <a:pt x="1313449" y="1941318"/>
                    <a:pt x="1298695" y="1956073"/>
                  </a:cubicBezTo>
                  <a:cubicBezTo>
                    <a:pt x="1283940" y="1970828"/>
                    <a:pt x="1263928" y="1979117"/>
                    <a:pt x="1243062" y="1979117"/>
                  </a:cubicBezTo>
                  <a:lnTo>
                    <a:pt x="78677" y="1979117"/>
                  </a:lnTo>
                  <a:cubicBezTo>
                    <a:pt x="57810" y="1979117"/>
                    <a:pt x="37799" y="1970828"/>
                    <a:pt x="23044" y="1956073"/>
                  </a:cubicBezTo>
                  <a:cubicBezTo>
                    <a:pt x="8289" y="1941318"/>
                    <a:pt x="0" y="1921306"/>
                    <a:pt x="0" y="1900440"/>
                  </a:cubicBezTo>
                  <a:lnTo>
                    <a:pt x="0" y="78677"/>
                  </a:lnTo>
                  <a:cubicBezTo>
                    <a:pt x="0" y="57810"/>
                    <a:pt x="8289" y="37799"/>
                    <a:pt x="23044" y="23044"/>
                  </a:cubicBezTo>
                  <a:cubicBezTo>
                    <a:pt x="37799" y="8289"/>
                    <a:pt x="57810" y="0"/>
                    <a:pt x="78677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321739" cy="197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66531" y="1524482"/>
            <a:ext cx="5022452" cy="7514459"/>
            <a:chOff x="0" y="0"/>
            <a:chExt cx="1322786" cy="19791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2786" cy="1979117"/>
            </a:xfrm>
            <a:custGeom>
              <a:avLst/>
              <a:gdLst/>
              <a:ahLst/>
              <a:cxnLst/>
              <a:rect r="r" b="b" t="t" l="l"/>
              <a:pathLst>
                <a:path h="1979117" w="1322786">
                  <a:moveTo>
                    <a:pt x="78615" y="0"/>
                  </a:moveTo>
                  <a:lnTo>
                    <a:pt x="1244171" y="0"/>
                  </a:lnTo>
                  <a:cubicBezTo>
                    <a:pt x="1287589" y="0"/>
                    <a:pt x="1322786" y="35197"/>
                    <a:pt x="1322786" y="78615"/>
                  </a:cubicBezTo>
                  <a:lnTo>
                    <a:pt x="1322786" y="1900502"/>
                  </a:lnTo>
                  <a:cubicBezTo>
                    <a:pt x="1322786" y="1943920"/>
                    <a:pt x="1287589" y="1979117"/>
                    <a:pt x="1244171" y="1979117"/>
                  </a:cubicBezTo>
                  <a:lnTo>
                    <a:pt x="78615" y="1979117"/>
                  </a:lnTo>
                  <a:cubicBezTo>
                    <a:pt x="35197" y="1979117"/>
                    <a:pt x="0" y="1943920"/>
                    <a:pt x="0" y="1900502"/>
                  </a:cubicBezTo>
                  <a:lnTo>
                    <a:pt x="0" y="78615"/>
                  </a:lnTo>
                  <a:cubicBezTo>
                    <a:pt x="0" y="35197"/>
                    <a:pt x="35197" y="0"/>
                    <a:pt x="78615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322786" cy="1979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22993" y="1543959"/>
            <a:ext cx="4948385" cy="7494983"/>
            <a:chOff x="0" y="0"/>
            <a:chExt cx="1303278" cy="19739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03278" cy="1973987"/>
            </a:xfrm>
            <a:custGeom>
              <a:avLst/>
              <a:gdLst/>
              <a:ahLst/>
              <a:cxnLst/>
              <a:rect r="r" b="b" t="t" l="l"/>
              <a:pathLst>
                <a:path h="1973987" w="1303278">
                  <a:moveTo>
                    <a:pt x="79791" y="0"/>
                  </a:moveTo>
                  <a:lnTo>
                    <a:pt x="1223487" y="0"/>
                  </a:lnTo>
                  <a:cubicBezTo>
                    <a:pt x="1244649" y="0"/>
                    <a:pt x="1264944" y="8407"/>
                    <a:pt x="1279908" y="23370"/>
                  </a:cubicBezTo>
                  <a:cubicBezTo>
                    <a:pt x="1294872" y="38334"/>
                    <a:pt x="1303278" y="58629"/>
                    <a:pt x="1303278" y="79791"/>
                  </a:cubicBezTo>
                  <a:lnTo>
                    <a:pt x="1303278" y="1894196"/>
                  </a:lnTo>
                  <a:cubicBezTo>
                    <a:pt x="1303278" y="1915358"/>
                    <a:pt x="1294872" y="1935653"/>
                    <a:pt x="1279908" y="1950617"/>
                  </a:cubicBezTo>
                  <a:cubicBezTo>
                    <a:pt x="1264944" y="1965581"/>
                    <a:pt x="1244649" y="1973987"/>
                    <a:pt x="1223487" y="1973987"/>
                  </a:cubicBezTo>
                  <a:lnTo>
                    <a:pt x="79791" y="1973987"/>
                  </a:lnTo>
                  <a:cubicBezTo>
                    <a:pt x="58629" y="1973987"/>
                    <a:pt x="38334" y="1965581"/>
                    <a:pt x="23370" y="1950617"/>
                  </a:cubicBezTo>
                  <a:cubicBezTo>
                    <a:pt x="8407" y="1935653"/>
                    <a:pt x="0" y="1915358"/>
                    <a:pt x="0" y="1894196"/>
                  </a:cubicBezTo>
                  <a:lnTo>
                    <a:pt x="0" y="79791"/>
                  </a:lnTo>
                  <a:cubicBezTo>
                    <a:pt x="0" y="58629"/>
                    <a:pt x="8407" y="38334"/>
                    <a:pt x="23370" y="23370"/>
                  </a:cubicBezTo>
                  <a:cubicBezTo>
                    <a:pt x="38334" y="8407"/>
                    <a:pt x="58629" y="0"/>
                    <a:pt x="79791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303278" cy="1973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719"/>
                </a:lnSpc>
              </a:pP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47775" y="1834247"/>
            <a:ext cx="4166582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2F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Stochastic Nature of Traffic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90648" y="1834247"/>
            <a:ext cx="4574217" cy="229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4"/>
              </a:lnSpc>
            </a:pPr>
            <a:r>
              <a:rPr lang="en-US" sz="3267" b="true">
                <a:solidFill>
                  <a:srgbClr val="F2F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Limits of Deterministic Control</a:t>
            </a:r>
          </a:p>
          <a:p>
            <a:pPr algn="ctr">
              <a:lnSpc>
                <a:spcPts val="4574"/>
              </a:lnSpc>
            </a:pPr>
          </a:p>
          <a:p>
            <a:pPr algn="ctr">
              <a:lnSpc>
                <a:spcPts val="457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3310081" y="1834247"/>
            <a:ext cx="4166582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2F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Probabilistic Control Approach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257300" y="3193146"/>
            <a:ext cx="415705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274165" y="3231246"/>
            <a:ext cx="415705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3324832" y="3250296"/>
            <a:ext cx="415705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224289" y="3326496"/>
            <a:ext cx="4842246" cy="537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7"/>
              </a:lnSpc>
            </a:pPr>
            <a:r>
              <a:rPr lang="en-US" sz="44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Traffic flow is inherently uncertain</a:t>
            </a:r>
          </a:p>
          <a:p>
            <a:pPr algn="l">
              <a:lnSpc>
                <a:spcPts val="5317"/>
              </a:lnSpc>
            </a:pPr>
            <a:r>
              <a:rPr lang="en-US" sz="44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• Vehicle arrivals are random</a:t>
            </a:r>
          </a:p>
          <a:p>
            <a:pPr algn="l">
              <a:lnSpc>
                <a:spcPts val="5317"/>
              </a:lnSpc>
              <a:spcBef>
                <a:spcPct val="0"/>
              </a:spcBef>
            </a:pPr>
            <a:r>
              <a:rPr lang="en-US" sz="44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• Congestion evolves probabilistically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14236" y="3221721"/>
            <a:ext cx="5022452" cy="538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2990" indent="-461495" lvl="1">
              <a:lnSpc>
                <a:spcPts val="5343"/>
              </a:lnSpc>
              <a:buFont typeface="Arial"/>
              <a:buChar char="•"/>
            </a:pPr>
            <a:r>
              <a:rPr lang="en-US" sz="427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Fixed schedules ign</a:t>
            </a:r>
            <a:r>
              <a:rPr lang="en-US" sz="427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ore variability</a:t>
            </a:r>
          </a:p>
          <a:p>
            <a:pPr algn="l" marL="922990" indent="-461495" lvl="1">
              <a:lnSpc>
                <a:spcPts val="5343"/>
              </a:lnSpc>
              <a:buFont typeface="Arial"/>
              <a:buChar char="•"/>
            </a:pPr>
            <a:r>
              <a:rPr lang="en-US" sz="427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Deterministic control lacks adaptability</a:t>
            </a:r>
          </a:p>
          <a:p>
            <a:pPr algn="l" marL="922990" indent="-461495" lvl="1">
              <a:lnSpc>
                <a:spcPts val="5343"/>
              </a:lnSpc>
              <a:buFont typeface="Arial"/>
              <a:buChar char="•"/>
            </a:pPr>
            <a:r>
              <a:rPr lang="en-US" sz="427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Performance degrades under randomness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38218" y="3392065"/>
            <a:ext cx="4943671" cy="564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95590" indent="-447795" lvl="1">
              <a:lnSpc>
                <a:spcPts val="4480"/>
              </a:lnSpc>
              <a:buFont typeface="Arial"/>
              <a:buChar char="•"/>
            </a:pPr>
            <a:r>
              <a:rPr lang="en-US" sz="41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Decisions based on expected outcomes</a:t>
            </a:r>
          </a:p>
          <a:p>
            <a:pPr algn="ctr" marL="895590" indent="-447795" lvl="1">
              <a:lnSpc>
                <a:spcPts val="4480"/>
              </a:lnSpc>
              <a:buFont typeface="Arial"/>
              <a:buChar char="•"/>
            </a:pPr>
            <a:r>
              <a:rPr lang="en-US" sz="41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Adaptive signal timing under uncertainty</a:t>
            </a:r>
          </a:p>
          <a:p>
            <a:pPr algn="ctr" marL="895590" indent="-447795" lvl="1">
              <a:lnSpc>
                <a:spcPts val="4480"/>
              </a:lnSpc>
              <a:buFont typeface="Arial"/>
              <a:buChar char="•"/>
            </a:pPr>
            <a:r>
              <a:rPr lang="en-US" sz="41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Markov Decision Processes enable principled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DAHASt0Lz9s</dc:identifier>
  <dcterms:modified xsi:type="dcterms:W3CDTF">2011-08-01T06:04:30Z</dcterms:modified>
  <cp:revision>1</cp:revision>
  <dc:title>THE STOCHASTIC OPTIMIZATION OF URBAN PLANNING</dc:title>
</cp:coreProperties>
</file>